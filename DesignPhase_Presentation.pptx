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snapToObjects="1">
      <p:cViewPr varScale="1">
        <p:scale>
          <a:sx n="121" d="100"/>
          <a:sy n="121" d="100"/>
        </p:scale>
        <p:origin x="392"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3/30/26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3/30/26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3/30/26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3/30/26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Rectangle 1"/>
          <p:cNvSpPr/>
          <p:nvPr/>
        </p:nvSpPr>
        <p:spPr>
          <a:xfrm>
            <a:off x="0" y="0"/>
            <a:ext cx="73152" cy="68580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601200" y="-1097280"/>
            <a:ext cx="4114800" cy="4114800"/>
          </a:xfrm>
          <a:prstGeom prst="ellipse">
            <a:avLst/>
          </a:prstGeom>
          <a:solidFill>
            <a:srgbClr val="1A1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241280" y="4389120"/>
            <a:ext cx="2560320" cy="2560320"/>
          </a:xfrm>
          <a:prstGeom prst="ellipse">
            <a:avLst/>
          </a:prstGeom>
          <a:solidFill>
            <a:srgbClr val="161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371600"/>
            <a:ext cx="9144000" cy="365760"/>
          </a:xfrm>
          <a:prstGeom prst="rect">
            <a:avLst/>
          </a:prstGeom>
          <a:noFill/>
        </p:spPr>
        <p:txBody>
          <a:bodyPr wrap="square">
            <a:spAutoFit/>
          </a:bodyPr>
          <a:lstStyle/>
          <a:p>
            <a:pPr algn="l"/>
            <a:r>
              <a:rPr sz="1300" b="0" i="1">
                <a:solidFill>
                  <a:srgbClr val="00D4FF"/>
                </a:solidFill>
                <a:latin typeface="Segoe UI"/>
              </a:rPr>
              <a:t>CSC 331H  ·  Honors Project  ·  Spring 2026</a:t>
            </a:r>
          </a:p>
        </p:txBody>
      </p:sp>
      <p:sp>
        <p:nvSpPr>
          <p:cNvPr id="6" name="TextBox 5"/>
          <p:cNvSpPr txBox="1"/>
          <p:nvPr/>
        </p:nvSpPr>
        <p:spPr>
          <a:xfrm>
            <a:off x="457200" y="1828800"/>
            <a:ext cx="9144000" cy="2377440"/>
          </a:xfrm>
          <a:prstGeom prst="rect">
            <a:avLst/>
          </a:prstGeom>
          <a:noFill/>
        </p:spPr>
        <p:txBody>
          <a:bodyPr wrap="square">
            <a:spAutoFit/>
          </a:bodyPr>
          <a:lstStyle/>
          <a:p>
            <a:pPr algn="l"/>
            <a:r>
              <a:rPr sz="4600" b="1" i="0">
                <a:solidFill>
                  <a:srgbClr val="FFFFFF"/>
                </a:solidFill>
                <a:latin typeface="Segoe UI Semibold"/>
              </a:rPr>
              <a:t>Personal Budget &amp;
Expense Management
System</a:t>
            </a:r>
          </a:p>
        </p:txBody>
      </p:sp>
      <p:sp>
        <p:nvSpPr>
          <p:cNvPr id="7" name="TextBox 6"/>
          <p:cNvSpPr txBox="1"/>
          <p:nvPr/>
        </p:nvSpPr>
        <p:spPr>
          <a:xfrm>
            <a:off x="457200" y="4343400"/>
            <a:ext cx="8229600" cy="457200"/>
          </a:xfrm>
          <a:prstGeom prst="rect">
            <a:avLst/>
          </a:prstGeom>
          <a:noFill/>
        </p:spPr>
        <p:txBody>
          <a:bodyPr wrap="square">
            <a:spAutoFit/>
          </a:bodyPr>
          <a:lstStyle/>
          <a:p>
            <a:pPr algn="l"/>
            <a:r>
              <a:rPr sz="2000" b="0" i="0">
                <a:solidFill>
                  <a:srgbClr val="CCCCDD"/>
                </a:solidFill>
                <a:latin typeface="Segoe UI"/>
              </a:rPr>
              <a:t>Design Phase Presentation</a:t>
            </a:r>
          </a:p>
        </p:txBody>
      </p:sp>
      <p:sp>
        <p:nvSpPr>
          <p:cNvPr id="8" name="Rectangle 7"/>
          <p:cNvSpPr/>
          <p:nvPr/>
        </p:nvSpPr>
        <p:spPr>
          <a:xfrm>
            <a:off x="457200" y="5074920"/>
            <a:ext cx="5486400" cy="36576"/>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5257800"/>
            <a:ext cx="8229600" cy="365760"/>
          </a:xfrm>
          <a:prstGeom prst="rect">
            <a:avLst/>
          </a:prstGeom>
          <a:noFill/>
        </p:spPr>
        <p:txBody>
          <a:bodyPr wrap="square">
            <a:spAutoFit/>
          </a:bodyPr>
          <a:lstStyle/>
          <a:p>
            <a:pPr algn="l"/>
            <a:r>
              <a:rPr sz="1300" b="0" i="0">
                <a:solidFill>
                  <a:srgbClr val="8888AA"/>
                </a:solidFill>
                <a:latin typeface="Segoe UI"/>
              </a:rPr>
              <a:t>BMCC  ·  Department of Computer Information Systems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4864"/>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64592"/>
            <a:ext cx="11338560" cy="594360"/>
          </a:xfrm>
          <a:prstGeom prst="rect">
            <a:avLst/>
          </a:prstGeom>
          <a:noFill/>
        </p:spPr>
        <p:txBody>
          <a:bodyPr wrap="square">
            <a:spAutoFit/>
          </a:bodyPr>
          <a:lstStyle/>
          <a:p>
            <a:pPr algn="l"/>
            <a:r>
              <a:rPr sz="2800" b="1" i="0">
                <a:solidFill>
                  <a:srgbClr val="FFFFFF"/>
                </a:solidFill>
                <a:latin typeface="Segoe UI Semibold"/>
              </a:rPr>
              <a:t>Project Overview</a:t>
            </a:r>
          </a:p>
        </p:txBody>
      </p:sp>
      <p:sp>
        <p:nvSpPr>
          <p:cNvPr id="4" name="TextBox 3"/>
          <p:cNvSpPr txBox="1"/>
          <p:nvPr/>
        </p:nvSpPr>
        <p:spPr>
          <a:xfrm>
            <a:off x="411480" y="777240"/>
            <a:ext cx="11338560" cy="320040"/>
          </a:xfrm>
          <a:prstGeom prst="rect">
            <a:avLst/>
          </a:prstGeom>
          <a:noFill/>
        </p:spPr>
        <p:txBody>
          <a:bodyPr wrap="square">
            <a:spAutoFit/>
          </a:bodyPr>
          <a:lstStyle/>
          <a:p>
            <a:pPr algn="l"/>
            <a:r>
              <a:rPr sz="1400" b="0" i="1">
                <a:solidFill>
                  <a:srgbClr val="00D4FF"/>
                </a:solidFill>
                <a:latin typeface="Segoe UI"/>
              </a:rPr>
              <a:t>A C++ personal finance management system built entirely from scratch — no STL containers.</a:t>
            </a:r>
          </a:p>
        </p:txBody>
      </p:sp>
      <p:sp>
        <p:nvSpPr>
          <p:cNvPr id="5" name="Rectangle 4"/>
          <p:cNvSpPr/>
          <p:nvPr/>
        </p:nvSpPr>
        <p:spPr>
          <a:xfrm>
            <a:off x="411480" y="1170432"/>
            <a:ext cx="11338560" cy="27432"/>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298448"/>
            <a:ext cx="11155680" cy="347472"/>
          </a:xfrm>
          <a:prstGeom prst="rect">
            <a:avLst/>
          </a:prstGeom>
          <a:noFill/>
        </p:spPr>
        <p:txBody>
          <a:bodyPr wrap="square">
            <a:spAutoFit/>
          </a:bodyPr>
          <a:lstStyle/>
          <a:p>
            <a:pPr algn="l"/>
            <a:r>
              <a:rPr sz="1600" b="1" i="0">
                <a:solidFill>
                  <a:srgbClr val="00D4FF"/>
                </a:solidFill>
                <a:latin typeface="Segoe UI Semibold"/>
              </a:rPr>
              <a:t>What This System Does</a:t>
            </a:r>
          </a:p>
        </p:txBody>
      </p:sp>
      <p:sp>
        <p:nvSpPr>
          <p:cNvPr id="7" name="TextBox 6"/>
          <p:cNvSpPr txBox="1"/>
          <p:nvPr/>
        </p:nvSpPr>
        <p:spPr>
          <a:xfrm>
            <a:off x="548640" y="1645919"/>
            <a:ext cx="11064240" cy="640080"/>
          </a:xfrm>
          <a:prstGeom prst="rect">
            <a:avLst/>
          </a:prstGeom>
          <a:noFill/>
        </p:spPr>
        <p:txBody>
          <a:bodyPr wrap="square">
            <a:spAutoFit/>
          </a:bodyPr>
          <a:lstStyle/>
          <a:p>
            <a:pPr algn="l"/>
            <a:r>
              <a:rPr sz="1500" b="0" i="0">
                <a:solidFill>
                  <a:srgbClr val="CCCCDD"/>
                </a:solidFill>
                <a:latin typeface="Segoe UI"/>
              </a:rPr>
              <a:t>This system allows users to log and categorize expenses, track bill due dates, and query their spending history over any date range. It enforces per-category budget limits and immediately notifies the user when a limit is exceeded.</a:t>
            </a:r>
          </a:p>
        </p:txBody>
      </p:sp>
      <p:sp>
        <p:nvSpPr>
          <p:cNvPr id="8" name="TextBox 7"/>
          <p:cNvSpPr txBox="1"/>
          <p:nvPr/>
        </p:nvSpPr>
        <p:spPr>
          <a:xfrm>
            <a:off x="457200" y="2267712"/>
            <a:ext cx="11155680" cy="347472"/>
          </a:xfrm>
          <a:prstGeom prst="rect">
            <a:avLst/>
          </a:prstGeom>
          <a:noFill/>
        </p:spPr>
        <p:txBody>
          <a:bodyPr wrap="square">
            <a:spAutoFit/>
          </a:bodyPr>
          <a:lstStyle/>
          <a:p>
            <a:pPr algn="l"/>
            <a:r>
              <a:rPr sz="1600" b="1" i="0">
                <a:solidFill>
                  <a:srgbClr val="00D4FF"/>
                </a:solidFill>
                <a:latin typeface="Segoe UI Semibold"/>
              </a:rPr>
              <a:t>Three Core Actions</a:t>
            </a:r>
          </a:p>
        </p:txBody>
      </p:sp>
      <p:sp>
        <p:nvSpPr>
          <p:cNvPr id="9" name="TextBox 8"/>
          <p:cNvSpPr txBox="1"/>
          <p:nvPr/>
        </p:nvSpPr>
        <p:spPr>
          <a:xfrm>
            <a:off x="548640" y="2615184"/>
            <a:ext cx="11064240" cy="553998"/>
          </a:xfrm>
          <a:prstGeom prst="rect">
            <a:avLst/>
          </a:prstGeom>
          <a:noFill/>
        </p:spPr>
        <p:txBody>
          <a:bodyPr wrap="square">
            <a:spAutoFit/>
          </a:bodyPr>
          <a:lstStyle/>
          <a:p>
            <a:pPr algn="l"/>
            <a:r>
              <a:rPr sz="1500" b="0" i="0" dirty="0">
                <a:solidFill>
                  <a:srgbClr val="CCCCDD"/>
                </a:solidFill>
                <a:latin typeface="Segoe UI"/>
              </a:rPr>
              <a:t>Action 1 — Log an expense and check if it exceeds a category budget.  Action 2 — View the next upcoming bill and mark </a:t>
            </a:r>
            <a:r>
              <a:rPr lang="en-US" sz="1500" b="0" i="0" dirty="0">
                <a:solidFill>
                  <a:srgbClr val="CCCCDD"/>
                </a:solidFill>
                <a:latin typeface="Segoe UI"/>
              </a:rPr>
              <a:t>as paid/not paid</a:t>
            </a:r>
            <a:r>
              <a:rPr lang="en-US" sz="1500" dirty="0">
                <a:solidFill>
                  <a:srgbClr val="CCCCDD"/>
                </a:solidFill>
                <a:latin typeface="Segoe UI"/>
              </a:rPr>
              <a:t> </a:t>
            </a:r>
            <a:r>
              <a:rPr lang="en-US" sz="1500" b="0" i="0" dirty="0">
                <a:solidFill>
                  <a:srgbClr val="CCCCDD"/>
                </a:solidFill>
                <a:latin typeface="Segoe UI"/>
              </a:rPr>
              <a:t>and give prioritized alerts</a:t>
            </a:r>
            <a:r>
              <a:rPr sz="1500" b="0" i="0" dirty="0">
                <a:solidFill>
                  <a:srgbClr val="CCCCDD"/>
                </a:solidFill>
                <a:latin typeface="Segoe UI"/>
              </a:rPr>
              <a:t>.  Action 3 — Query spending history by date range</a:t>
            </a:r>
            <a:r>
              <a:rPr lang="en-US" sz="1500" b="0" i="0" dirty="0">
                <a:solidFill>
                  <a:srgbClr val="CCCCDD"/>
                </a:solidFill>
                <a:latin typeface="Segoe UI"/>
              </a:rPr>
              <a:t> &amp; category</a:t>
            </a:r>
            <a:r>
              <a:rPr sz="1500" b="0" i="0" dirty="0">
                <a:solidFill>
                  <a:srgbClr val="CCCCDD"/>
                </a:solidFill>
                <a:latin typeface="Segoe UI"/>
              </a:rPr>
              <a:t>.</a:t>
            </a:r>
          </a:p>
        </p:txBody>
      </p:sp>
      <p:sp>
        <p:nvSpPr>
          <p:cNvPr id="10" name="TextBox 9"/>
          <p:cNvSpPr txBox="1"/>
          <p:nvPr/>
        </p:nvSpPr>
        <p:spPr>
          <a:xfrm>
            <a:off x="457200" y="3236976"/>
            <a:ext cx="11155680" cy="347472"/>
          </a:xfrm>
          <a:prstGeom prst="rect">
            <a:avLst/>
          </a:prstGeom>
          <a:noFill/>
        </p:spPr>
        <p:txBody>
          <a:bodyPr wrap="square">
            <a:spAutoFit/>
          </a:bodyPr>
          <a:lstStyle/>
          <a:p>
            <a:pPr algn="l"/>
            <a:r>
              <a:rPr sz="1600" b="1" i="0">
                <a:solidFill>
                  <a:srgbClr val="00D4FF"/>
                </a:solidFill>
                <a:latin typeface="Segoe UI Semibold"/>
              </a:rPr>
              <a:t>System Composition</a:t>
            </a:r>
          </a:p>
        </p:txBody>
      </p:sp>
      <p:sp>
        <p:nvSpPr>
          <p:cNvPr id="11" name="TextBox 10"/>
          <p:cNvSpPr txBox="1"/>
          <p:nvPr/>
        </p:nvSpPr>
        <p:spPr>
          <a:xfrm>
            <a:off x="548640" y="3584448"/>
            <a:ext cx="11064240" cy="640080"/>
          </a:xfrm>
          <a:prstGeom prst="rect">
            <a:avLst/>
          </a:prstGeom>
          <a:noFill/>
        </p:spPr>
        <p:txBody>
          <a:bodyPr wrap="square">
            <a:spAutoFit/>
          </a:bodyPr>
          <a:lstStyle/>
          <a:p>
            <a:pPr algn="l"/>
            <a:r>
              <a:rPr sz="1500" b="0" i="0" dirty="0">
                <a:solidFill>
                  <a:srgbClr val="CCCCDD"/>
                </a:solidFill>
                <a:latin typeface="Segoe UI"/>
              </a:rPr>
              <a:t>The system is composed of 7 components: Expense, Bill, CategoryInfo, HashMap, </a:t>
            </a:r>
            <a:r>
              <a:rPr sz="1500" b="0" i="0" dirty="0" err="1">
                <a:solidFill>
                  <a:srgbClr val="CCCCDD"/>
                </a:solidFill>
                <a:latin typeface="Segoe UI"/>
              </a:rPr>
              <a:t>MinHeap</a:t>
            </a:r>
            <a:r>
              <a:rPr sz="1500" b="0" i="0" dirty="0">
                <a:solidFill>
                  <a:srgbClr val="CCCCDD"/>
                </a:solidFill>
                <a:latin typeface="Segoe UI"/>
              </a:rPr>
              <a:t>, BST, and </a:t>
            </a:r>
            <a:r>
              <a:rPr sz="1500" b="0" i="0" dirty="0" err="1">
                <a:solidFill>
                  <a:srgbClr val="CCCCDD"/>
                </a:solidFill>
                <a:latin typeface="Segoe UI"/>
              </a:rPr>
              <a:t>BudgetManager</a:t>
            </a:r>
            <a:r>
              <a:rPr sz="1500" b="0" i="0" dirty="0">
                <a:solidFill>
                  <a:srgbClr val="CCCCDD"/>
                </a:solidFill>
                <a:latin typeface="Segoe UI"/>
              </a:rPr>
              <a:t>. All data structures are implemented from scratch. 8 header files define the full interface, reviewed and finalized before implementation.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4864"/>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11338560" cy="548640"/>
          </a:xfrm>
          <a:prstGeom prst="rect">
            <a:avLst/>
          </a:prstGeom>
          <a:noFill/>
        </p:spPr>
        <p:txBody>
          <a:bodyPr wrap="square">
            <a:spAutoFit/>
          </a:bodyPr>
          <a:lstStyle/>
          <a:p>
            <a:pPr algn="l"/>
            <a:r>
              <a:rPr sz="2800" b="1" i="0">
                <a:solidFill>
                  <a:srgbClr val="FFFFFF"/>
                </a:solidFill>
                <a:latin typeface="Segoe UI Semibold"/>
              </a:rPr>
              <a:t>UML Class Diagram — System Architecture</a:t>
            </a:r>
          </a:p>
        </p:txBody>
      </p:sp>
      <p:sp>
        <p:nvSpPr>
          <p:cNvPr id="4" name="TextBox 3"/>
          <p:cNvSpPr txBox="1"/>
          <p:nvPr/>
        </p:nvSpPr>
        <p:spPr>
          <a:xfrm>
            <a:off x="411480" y="685800"/>
            <a:ext cx="11338560" cy="320040"/>
          </a:xfrm>
          <a:prstGeom prst="rect">
            <a:avLst/>
          </a:prstGeom>
          <a:noFill/>
        </p:spPr>
        <p:txBody>
          <a:bodyPr wrap="square">
            <a:spAutoFit/>
          </a:bodyPr>
          <a:lstStyle/>
          <a:p>
            <a:pPr algn="l"/>
            <a:r>
              <a:rPr sz="1300" b="0" i="1">
                <a:solidFill>
                  <a:srgbClr val="00D4FF"/>
                </a:solidFill>
                <a:latin typeface="Segoe UI"/>
              </a:rPr>
              <a:t>7 components  ·  9 relationships  ·  3 composition  ·  3 dependency  ·  3 structural</a:t>
            </a:r>
          </a:p>
        </p:txBody>
      </p:sp>
      <p:sp>
        <p:nvSpPr>
          <p:cNvPr id="5" name="Rectangle 4"/>
          <p:cNvSpPr/>
          <p:nvPr/>
        </p:nvSpPr>
        <p:spPr>
          <a:xfrm>
            <a:off x="411480" y="1051560"/>
            <a:ext cx="11338560" cy="27432"/>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mlInitial.png"/>
          <p:cNvPicPr>
            <a:picLocks noChangeAspect="1"/>
          </p:cNvPicPr>
          <p:nvPr/>
        </p:nvPicPr>
        <p:blipFill>
          <a:blip r:embed="rId2"/>
          <a:stretch>
            <a:fillRect/>
          </a:stretch>
        </p:blipFill>
        <p:spPr>
          <a:xfrm>
            <a:off x="320040" y="1143000"/>
            <a:ext cx="11548872" cy="55778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4864"/>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64592"/>
            <a:ext cx="11338560" cy="594360"/>
          </a:xfrm>
          <a:prstGeom prst="rect">
            <a:avLst/>
          </a:prstGeom>
          <a:noFill/>
        </p:spPr>
        <p:txBody>
          <a:bodyPr wrap="square">
            <a:spAutoFit/>
          </a:bodyPr>
          <a:lstStyle/>
          <a:p>
            <a:pPr algn="l"/>
            <a:r>
              <a:rPr sz="2800" b="1" i="0">
                <a:solidFill>
                  <a:srgbClr val="FFFFFF"/>
                </a:solidFill>
                <a:latin typeface="Segoe UI Semibold"/>
              </a:rPr>
              <a:t>Data Structure Design</a:t>
            </a:r>
          </a:p>
        </p:txBody>
      </p:sp>
      <p:sp>
        <p:nvSpPr>
          <p:cNvPr id="4" name="TextBox 3"/>
          <p:cNvSpPr txBox="1"/>
          <p:nvPr/>
        </p:nvSpPr>
        <p:spPr>
          <a:xfrm>
            <a:off x="411480" y="777240"/>
            <a:ext cx="11338560" cy="320040"/>
          </a:xfrm>
          <a:prstGeom prst="rect">
            <a:avLst/>
          </a:prstGeom>
          <a:noFill/>
        </p:spPr>
        <p:txBody>
          <a:bodyPr wrap="square">
            <a:spAutoFit/>
          </a:bodyPr>
          <a:lstStyle/>
          <a:p>
            <a:pPr algn="l"/>
            <a:r>
              <a:rPr sz="1400" b="0" i="1">
                <a:solidFill>
                  <a:srgbClr val="00D4FF"/>
                </a:solidFill>
                <a:latin typeface="Segoe UI"/>
              </a:rPr>
              <a:t>Each data structure was chosen because it is the optimal fit for the operation it must support.</a:t>
            </a:r>
          </a:p>
        </p:txBody>
      </p:sp>
      <p:sp>
        <p:nvSpPr>
          <p:cNvPr id="5" name="Rectangle 4"/>
          <p:cNvSpPr/>
          <p:nvPr/>
        </p:nvSpPr>
        <p:spPr>
          <a:xfrm>
            <a:off x="411480" y="1170432"/>
            <a:ext cx="11338560" cy="27432"/>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298448"/>
            <a:ext cx="11155680" cy="347472"/>
          </a:xfrm>
          <a:prstGeom prst="rect">
            <a:avLst/>
          </a:prstGeom>
          <a:noFill/>
        </p:spPr>
        <p:txBody>
          <a:bodyPr wrap="square">
            <a:spAutoFit/>
          </a:bodyPr>
          <a:lstStyle/>
          <a:p>
            <a:pPr algn="l"/>
            <a:r>
              <a:rPr sz="1600" b="1" i="0">
                <a:solidFill>
                  <a:srgbClr val="00D4FF"/>
                </a:solidFill>
                <a:latin typeface="Segoe UI Semibold"/>
              </a:rPr>
              <a:t>HashMap for Budget Tracking  —  O(1) lookup</a:t>
            </a:r>
          </a:p>
        </p:txBody>
      </p:sp>
      <p:sp>
        <p:nvSpPr>
          <p:cNvPr id="7" name="TextBox 6"/>
          <p:cNvSpPr txBox="1"/>
          <p:nvPr/>
        </p:nvSpPr>
        <p:spPr>
          <a:xfrm>
            <a:off x="457200" y="1655065"/>
            <a:ext cx="11064240" cy="640080"/>
          </a:xfrm>
          <a:prstGeom prst="rect">
            <a:avLst/>
          </a:prstGeom>
          <a:noFill/>
        </p:spPr>
        <p:txBody>
          <a:bodyPr wrap="square">
            <a:spAutoFit/>
          </a:bodyPr>
          <a:lstStyle/>
          <a:p>
            <a:pPr algn="l"/>
            <a:r>
              <a:rPr sz="1500" b="0" i="0" dirty="0">
                <a:solidFill>
                  <a:srgbClr val="CCCCDD"/>
                </a:solidFill>
                <a:latin typeface="Segoe UI"/>
              </a:rPr>
              <a:t>Every time an expense is logged, the system must look up the category, update its running total, and compare it against the budget limit. This happens on every single log operation. A HashMap provides O(1) average-case lookup regardless of how many categories exist, making it the only structure fast enough for this use case. It uses open-addressing with linear probing and an </a:t>
            </a:r>
            <a:r>
              <a:rPr sz="1500" b="0" i="0" dirty="0" err="1">
                <a:solidFill>
                  <a:srgbClr val="CCCCDD"/>
                </a:solidFill>
                <a:latin typeface="Segoe UI"/>
              </a:rPr>
              <a:t>isDeleted</a:t>
            </a:r>
            <a:r>
              <a:rPr sz="1500" b="0" i="0" dirty="0">
                <a:solidFill>
                  <a:srgbClr val="CCCCDD"/>
                </a:solidFill>
                <a:latin typeface="Segoe UI"/>
              </a:rPr>
              <a:t> tombstone flag to safely support removal.</a:t>
            </a:r>
          </a:p>
        </p:txBody>
      </p:sp>
      <p:sp>
        <p:nvSpPr>
          <p:cNvPr id="8" name="TextBox 7"/>
          <p:cNvSpPr txBox="1"/>
          <p:nvPr/>
        </p:nvSpPr>
        <p:spPr>
          <a:xfrm>
            <a:off x="457200" y="2711876"/>
            <a:ext cx="11155680" cy="347472"/>
          </a:xfrm>
          <a:prstGeom prst="rect">
            <a:avLst/>
          </a:prstGeom>
          <a:noFill/>
        </p:spPr>
        <p:txBody>
          <a:bodyPr wrap="square">
            <a:spAutoFit/>
          </a:bodyPr>
          <a:lstStyle/>
          <a:p>
            <a:pPr algn="l"/>
            <a:r>
              <a:rPr sz="1600" b="1" i="0" dirty="0" err="1">
                <a:solidFill>
                  <a:srgbClr val="00D4FF"/>
                </a:solidFill>
                <a:latin typeface="Segoe UI Semibold"/>
              </a:rPr>
              <a:t>MinHeap</a:t>
            </a:r>
            <a:r>
              <a:rPr sz="1600" b="1" i="0" dirty="0">
                <a:solidFill>
                  <a:srgbClr val="00D4FF"/>
                </a:solidFill>
                <a:latin typeface="Segoe UI Semibold"/>
              </a:rPr>
              <a:t> for Bills  —  O(1) access to earliest due date</a:t>
            </a:r>
          </a:p>
        </p:txBody>
      </p:sp>
      <p:sp>
        <p:nvSpPr>
          <p:cNvPr id="9" name="TextBox 8"/>
          <p:cNvSpPr txBox="1"/>
          <p:nvPr/>
        </p:nvSpPr>
        <p:spPr>
          <a:xfrm>
            <a:off x="457200" y="3068493"/>
            <a:ext cx="11064240" cy="640080"/>
          </a:xfrm>
          <a:prstGeom prst="rect">
            <a:avLst/>
          </a:prstGeom>
          <a:noFill/>
        </p:spPr>
        <p:txBody>
          <a:bodyPr wrap="square">
            <a:spAutoFit/>
          </a:bodyPr>
          <a:lstStyle/>
          <a:p>
            <a:pPr algn="l"/>
            <a:r>
              <a:rPr sz="1500" b="0" i="0" dirty="0">
                <a:solidFill>
                  <a:srgbClr val="CCCCDD"/>
                </a:solidFill>
                <a:latin typeface="Segoe UI"/>
              </a:rPr>
              <a:t>Action 2 always needs the bill with the earliest due date. A </a:t>
            </a:r>
            <a:r>
              <a:rPr sz="1500" b="0" i="0" dirty="0" err="1">
                <a:solidFill>
                  <a:srgbClr val="CCCCDD"/>
                </a:solidFill>
                <a:latin typeface="Segoe UI"/>
              </a:rPr>
              <a:t>MinHeap</a:t>
            </a:r>
            <a:r>
              <a:rPr sz="1500" b="0" i="0" dirty="0">
                <a:solidFill>
                  <a:srgbClr val="CCCCDD"/>
                </a:solidFill>
                <a:latin typeface="Segoe UI"/>
              </a:rPr>
              <a:t> keeps that bill at the root at all times, delivering it in O(1). Insertion and removal cost O(log n). A plain array would require scanning all bills — O(n) — on every request.</a:t>
            </a:r>
          </a:p>
        </p:txBody>
      </p:sp>
      <p:sp>
        <p:nvSpPr>
          <p:cNvPr id="10" name="TextBox 9"/>
          <p:cNvSpPr txBox="1"/>
          <p:nvPr/>
        </p:nvSpPr>
        <p:spPr>
          <a:xfrm>
            <a:off x="457200" y="3717718"/>
            <a:ext cx="11155680" cy="347472"/>
          </a:xfrm>
          <a:prstGeom prst="rect">
            <a:avLst/>
          </a:prstGeom>
          <a:noFill/>
        </p:spPr>
        <p:txBody>
          <a:bodyPr wrap="square">
            <a:spAutoFit/>
          </a:bodyPr>
          <a:lstStyle/>
          <a:p>
            <a:pPr algn="l"/>
            <a:r>
              <a:rPr sz="1600" b="1" i="0">
                <a:solidFill>
                  <a:srgbClr val="00D4FF"/>
                </a:solidFill>
                <a:latin typeface="Segoe UI Semibold"/>
              </a:rPr>
              <a:t>BST for Expenses  —  O(log n + k) range queries</a:t>
            </a:r>
          </a:p>
        </p:txBody>
      </p:sp>
      <p:sp>
        <p:nvSpPr>
          <p:cNvPr id="11" name="TextBox 10"/>
          <p:cNvSpPr txBox="1"/>
          <p:nvPr/>
        </p:nvSpPr>
        <p:spPr>
          <a:xfrm>
            <a:off x="457200" y="4046903"/>
            <a:ext cx="11064240" cy="640080"/>
          </a:xfrm>
          <a:prstGeom prst="rect">
            <a:avLst/>
          </a:prstGeom>
          <a:noFill/>
        </p:spPr>
        <p:txBody>
          <a:bodyPr wrap="square">
            <a:spAutoFit/>
          </a:bodyPr>
          <a:lstStyle/>
          <a:p>
            <a:pPr algn="l"/>
            <a:r>
              <a:rPr sz="1500" b="0" i="0" dirty="0">
                <a:solidFill>
                  <a:srgbClr val="CCCCDD"/>
                </a:solidFill>
                <a:latin typeface="Segoe UI"/>
              </a:rPr>
              <a:t>Action 3 retrieves all expenses within a date range. A BST stores expenses sorted by date, so the system descends to the start date in O(log n) and collects all matching nodes without visiting the rest. A flat array would scan every expense — O(n) — on every query, degrading as history grows.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4864"/>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64592"/>
            <a:ext cx="11338560" cy="594360"/>
          </a:xfrm>
          <a:prstGeom prst="rect">
            <a:avLst/>
          </a:prstGeom>
          <a:noFill/>
        </p:spPr>
        <p:txBody>
          <a:bodyPr wrap="square">
            <a:spAutoFit/>
          </a:bodyPr>
          <a:lstStyle/>
          <a:p>
            <a:pPr algn="l"/>
            <a:r>
              <a:rPr sz="2800" b="1" i="0">
                <a:solidFill>
                  <a:srgbClr val="FFFFFF"/>
                </a:solidFill>
                <a:latin typeface="Segoe UI Semibold"/>
              </a:rPr>
              <a:t>Module Specification &amp; Interface Design</a:t>
            </a:r>
          </a:p>
        </p:txBody>
      </p:sp>
      <p:sp>
        <p:nvSpPr>
          <p:cNvPr id="4" name="TextBox 3"/>
          <p:cNvSpPr txBox="1"/>
          <p:nvPr/>
        </p:nvSpPr>
        <p:spPr>
          <a:xfrm>
            <a:off x="411480" y="777240"/>
            <a:ext cx="11338560" cy="320040"/>
          </a:xfrm>
          <a:prstGeom prst="rect">
            <a:avLst/>
          </a:prstGeom>
          <a:noFill/>
        </p:spPr>
        <p:txBody>
          <a:bodyPr wrap="square">
            <a:spAutoFit/>
          </a:bodyPr>
          <a:lstStyle/>
          <a:p>
            <a:pPr algn="l"/>
            <a:r>
              <a:rPr sz="1400" b="0" i="1">
                <a:solidFill>
                  <a:srgbClr val="00D4FF"/>
                </a:solidFill>
                <a:latin typeface="Segoe UI"/>
              </a:rPr>
              <a:t>Every component exposes a well-defined public interface. All internal complexity is encapsulated.</a:t>
            </a:r>
          </a:p>
        </p:txBody>
      </p:sp>
      <p:sp>
        <p:nvSpPr>
          <p:cNvPr id="5" name="Rectangle 4"/>
          <p:cNvSpPr/>
          <p:nvPr/>
        </p:nvSpPr>
        <p:spPr>
          <a:xfrm>
            <a:off x="411480" y="1170432"/>
            <a:ext cx="11338560" cy="27432"/>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298448"/>
            <a:ext cx="11155680" cy="347472"/>
          </a:xfrm>
          <a:prstGeom prst="rect">
            <a:avLst/>
          </a:prstGeom>
          <a:noFill/>
        </p:spPr>
        <p:txBody>
          <a:bodyPr wrap="square">
            <a:spAutoFit/>
          </a:bodyPr>
          <a:lstStyle/>
          <a:p>
            <a:pPr algn="l"/>
            <a:r>
              <a:rPr sz="1600" b="1" i="0">
                <a:solidFill>
                  <a:srgbClr val="00D4FF"/>
                </a:solidFill>
                <a:latin typeface="Segoe UI Semibold"/>
              </a:rPr>
              <a:t>BudgetManager — The Single Entry Point</a:t>
            </a:r>
          </a:p>
        </p:txBody>
      </p:sp>
      <p:sp>
        <p:nvSpPr>
          <p:cNvPr id="7" name="TextBox 6"/>
          <p:cNvSpPr txBox="1"/>
          <p:nvPr/>
        </p:nvSpPr>
        <p:spPr>
          <a:xfrm>
            <a:off x="548640" y="1645919"/>
            <a:ext cx="11064240" cy="640080"/>
          </a:xfrm>
          <a:prstGeom prst="rect">
            <a:avLst/>
          </a:prstGeom>
          <a:noFill/>
        </p:spPr>
        <p:txBody>
          <a:bodyPr wrap="square">
            <a:spAutoFit/>
          </a:bodyPr>
          <a:lstStyle/>
          <a:p>
            <a:pPr algn="l"/>
            <a:r>
              <a:rPr sz="1500" b="0" i="0">
                <a:solidFill>
                  <a:srgbClr val="CCCCDD"/>
                </a:solidFill>
                <a:latin typeface="Segoe UI"/>
              </a:rPr>
              <a:t>BudgetManager is the only class the outside world interacts with directly. It owns BST, MinHeap, and HashMap as private members and exposes a clean public interface that hides all data structure complexity. No external code ever calls BST::insert() or HashMap::get() directly — every operation goes through BudgetManager.</a:t>
            </a:r>
          </a:p>
        </p:txBody>
      </p:sp>
      <p:sp>
        <p:nvSpPr>
          <p:cNvPr id="8" name="TextBox 7"/>
          <p:cNvSpPr txBox="1"/>
          <p:nvPr/>
        </p:nvSpPr>
        <p:spPr>
          <a:xfrm>
            <a:off x="457200" y="2418588"/>
            <a:ext cx="11155680" cy="347472"/>
          </a:xfrm>
          <a:prstGeom prst="rect">
            <a:avLst/>
          </a:prstGeom>
          <a:noFill/>
        </p:spPr>
        <p:txBody>
          <a:bodyPr wrap="square">
            <a:spAutoFit/>
          </a:bodyPr>
          <a:lstStyle/>
          <a:p>
            <a:pPr algn="l"/>
            <a:r>
              <a:rPr sz="1600" b="1" i="0">
                <a:solidFill>
                  <a:srgbClr val="00D4FF"/>
                </a:solidFill>
                <a:latin typeface="Segoe UI Semibold"/>
              </a:rPr>
              <a:t>Component Interfaces</a:t>
            </a:r>
          </a:p>
        </p:txBody>
      </p:sp>
      <p:sp>
        <p:nvSpPr>
          <p:cNvPr id="9" name="TextBox 8"/>
          <p:cNvSpPr txBox="1"/>
          <p:nvPr/>
        </p:nvSpPr>
        <p:spPr>
          <a:xfrm>
            <a:off x="548640" y="2724912"/>
            <a:ext cx="11064240" cy="640080"/>
          </a:xfrm>
          <a:prstGeom prst="rect">
            <a:avLst/>
          </a:prstGeom>
          <a:noFill/>
        </p:spPr>
        <p:txBody>
          <a:bodyPr wrap="square">
            <a:spAutoFit/>
          </a:bodyPr>
          <a:lstStyle/>
          <a:p>
            <a:pPr algn="l"/>
            <a:r>
              <a:rPr sz="1500" b="0" i="0" dirty="0" err="1">
                <a:solidFill>
                  <a:srgbClr val="CCCCDD"/>
                </a:solidFill>
                <a:latin typeface="Segoe UI"/>
              </a:rPr>
              <a:t>BudgetManager</a:t>
            </a:r>
            <a:r>
              <a:rPr sz="1500" b="0" i="0" dirty="0">
                <a:solidFill>
                  <a:srgbClr val="CCCCDD"/>
                </a:solidFill>
                <a:latin typeface="Segoe UI"/>
              </a:rPr>
              <a:t> delegates to BST for expense storage and range queries, to </a:t>
            </a:r>
            <a:r>
              <a:rPr sz="1500" b="0" i="0" dirty="0" err="1">
                <a:solidFill>
                  <a:srgbClr val="CCCCDD"/>
                </a:solidFill>
                <a:latin typeface="Segoe UI"/>
              </a:rPr>
              <a:t>MinHeap</a:t>
            </a:r>
            <a:r>
              <a:rPr sz="1500" b="0" i="0" dirty="0">
                <a:solidFill>
                  <a:srgbClr val="CCCCDD"/>
                </a:solidFill>
                <a:latin typeface="Segoe UI"/>
              </a:rPr>
              <a:t> for bill queue management, and to HashMap for category budget lookups. HashMap in turn communicates with CategoryInfo to update totals and check limits. Date is a shared value type passed by const reference across all interfaces.</a:t>
            </a:r>
          </a:p>
        </p:txBody>
      </p:sp>
      <p:sp>
        <p:nvSpPr>
          <p:cNvPr id="10" name="TextBox 9"/>
          <p:cNvSpPr txBox="1"/>
          <p:nvPr/>
        </p:nvSpPr>
        <p:spPr>
          <a:xfrm>
            <a:off x="457200" y="3538728"/>
            <a:ext cx="11155680" cy="347472"/>
          </a:xfrm>
          <a:prstGeom prst="rect">
            <a:avLst/>
          </a:prstGeom>
          <a:noFill/>
        </p:spPr>
        <p:txBody>
          <a:bodyPr wrap="square">
            <a:spAutoFit/>
          </a:bodyPr>
          <a:lstStyle/>
          <a:p>
            <a:pPr algn="l"/>
            <a:r>
              <a:rPr sz="1600" b="1" i="0" dirty="0">
                <a:solidFill>
                  <a:srgbClr val="00D4FF"/>
                </a:solidFill>
                <a:latin typeface="Segoe UI Semibold"/>
              </a:rPr>
              <a:t>Design Safety</a:t>
            </a:r>
          </a:p>
        </p:txBody>
      </p:sp>
      <p:sp>
        <p:nvSpPr>
          <p:cNvPr id="11" name="TextBox 10"/>
          <p:cNvSpPr txBox="1"/>
          <p:nvPr/>
        </p:nvSpPr>
        <p:spPr>
          <a:xfrm>
            <a:off x="548640" y="3886200"/>
            <a:ext cx="11064240" cy="640080"/>
          </a:xfrm>
          <a:prstGeom prst="rect">
            <a:avLst/>
          </a:prstGeom>
          <a:noFill/>
        </p:spPr>
        <p:txBody>
          <a:bodyPr wrap="square">
            <a:spAutoFit/>
          </a:bodyPr>
          <a:lstStyle/>
          <a:p>
            <a:pPr algn="l"/>
            <a:r>
              <a:rPr sz="1500" b="0" i="0" dirty="0">
                <a:solidFill>
                  <a:srgbClr val="CCCCDD"/>
                </a:solidFill>
                <a:latin typeface="Segoe UI"/>
              </a:rPr>
              <a:t>The Rule of Three is applied to HashMap, </a:t>
            </a:r>
            <a:r>
              <a:rPr sz="1500" b="0" i="0" dirty="0" err="1">
                <a:solidFill>
                  <a:srgbClr val="CCCCDD"/>
                </a:solidFill>
                <a:latin typeface="Segoe UI"/>
              </a:rPr>
              <a:t>MinHeap</a:t>
            </a:r>
            <a:r>
              <a:rPr sz="1500" b="0" i="0" dirty="0">
                <a:solidFill>
                  <a:srgbClr val="CCCCDD"/>
                </a:solidFill>
                <a:latin typeface="Segoe UI"/>
              </a:rPr>
              <a:t>, and BST — all three own raw pointers and have their copy constructor and copy assignment operator deleted to prevent shallow copies and double-frees. All constructors zero-initialize numeric fields to eliminate undefined behavior from the start.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4864"/>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64592"/>
            <a:ext cx="11338560" cy="594360"/>
          </a:xfrm>
          <a:prstGeom prst="rect">
            <a:avLst/>
          </a:prstGeom>
          <a:noFill/>
        </p:spPr>
        <p:txBody>
          <a:bodyPr wrap="square">
            <a:spAutoFit/>
          </a:bodyPr>
          <a:lstStyle/>
          <a:p>
            <a:pPr algn="l"/>
            <a:r>
              <a:rPr sz="2800" b="1" i="0">
                <a:solidFill>
                  <a:srgbClr val="FFFFFF"/>
                </a:solidFill>
                <a:latin typeface="Segoe UI Semibold"/>
              </a:rPr>
              <a:t>Algorithm Definition</a:t>
            </a:r>
          </a:p>
        </p:txBody>
      </p:sp>
      <p:sp>
        <p:nvSpPr>
          <p:cNvPr id="4" name="TextBox 3"/>
          <p:cNvSpPr txBox="1"/>
          <p:nvPr/>
        </p:nvSpPr>
        <p:spPr>
          <a:xfrm>
            <a:off x="411480" y="777240"/>
            <a:ext cx="11338560" cy="320040"/>
          </a:xfrm>
          <a:prstGeom prst="rect">
            <a:avLst/>
          </a:prstGeom>
          <a:noFill/>
        </p:spPr>
        <p:txBody>
          <a:bodyPr wrap="square">
            <a:spAutoFit/>
          </a:bodyPr>
          <a:lstStyle/>
          <a:p>
            <a:pPr algn="l"/>
            <a:r>
              <a:rPr sz="1400" b="0" i="1">
                <a:solidFill>
                  <a:srgbClr val="00D4FF"/>
                </a:solidFill>
                <a:latin typeface="Segoe UI"/>
              </a:rPr>
              <a:t>Precise logic is defined for each core action and each supporting data structure operation.</a:t>
            </a:r>
          </a:p>
        </p:txBody>
      </p:sp>
      <p:sp>
        <p:nvSpPr>
          <p:cNvPr id="5" name="Rectangle 4"/>
          <p:cNvSpPr/>
          <p:nvPr/>
        </p:nvSpPr>
        <p:spPr>
          <a:xfrm>
            <a:off x="411480" y="1170432"/>
            <a:ext cx="11338560" cy="27432"/>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298448"/>
            <a:ext cx="11155680" cy="347472"/>
          </a:xfrm>
          <a:prstGeom prst="rect">
            <a:avLst/>
          </a:prstGeom>
          <a:noFill/>
        </p:spPr>
        <p:txBody>
          <a:bodyPr wrap="square">
            <a:spAutoFit/>
          </a:bodyPr>
          <a:lstStyle/>
          <a:p>
            <a:pPr algn="l"/>
            <a:r>
              <a:rPr sz="1600" b="1" i="0">
                <a:solidFill>
                  <a:srgbClr val="00D4FF"/>
                </a:solidFill>
                <a:latin typeface="Segoe UI Semibold"/>
              </a:rPr>
              <a:t>Action 1 — Log an Expense and Check Budget</a:t>
            </a:r>
          </a:p>
        </p:txBody>
      </p:sp>
      <p:sp>
        <p:nvSpPr>
          <p:cNvPr id="7" name="TextBox 6"/>
          <p:cNvSpPr txBox="1"/>
          <p:nvPr/>
        </p:nvSpPr>
        <p:spPr>
          <a:xfrm>
            <a:off x="548640" y="1645919"/>
            <a:ext cx="11064240" cy="640080"/>
          </a:xfrm>
          <a:prstGeom prst="rect">
            <a:avLst/>
          </a:prstGeom>
          <a:noFill/>
        </p:spPr>
        <p:txBody>
          <a:bodyPr wrap="square">
            <a:spAutoFit/>
          </a:bodyPr>
          <a:lstStyle/>
          <a:p>
            <a:pPr algn="l"/>
            <a:r>
              <a:rPr sz="1500" b="0" i="0">
                <a:solidFill>
                  <a:srgbClr val="CCCCDD"/>
                </a:solidFill>
                <a:latin typeface="Segoe UI"/>
              </a:rPr>
              <a:t>addExpense inserts the expense into the BST, then retrieves or creates the matching CategoryInfo in the HashMap. It calls categoryInfo.addExpense(amount) to increment totalSpent, then calls checkBudget, which prints a warning if totalSpent exceeds budgetLimit.</a:t>
            </a:r>
          </a:p>
        </p:txBody>
      </p:sp>
      <p:sp>
        <p:nvSpPr>
          <p:cNvPr id="8" name="TextBox 7"/>
          <p:cNvSpPr txBox="1"/>
          <p:nvPr/>
        </p:nvSpPr>
        <p:spPr>
          <a:xfrm>
            <a:off x="457200" y="2432303"/>
            <a:ext cx="11155680" cy="347472"/>
          </a:xfrm>
          <a:prstGeom prst="rect">
            <a:avLst/>
          </a:prstGeom>
          <a:noFill/>
        </p:spPr>
        <p:txBody>
          <a:bodyPr wrap="square">
            <a:spAutoFit/>
          </a:bodyPr>
          <a:lstStyle/>
          <a:p>
            <a:pPr algn="l"/>
            <a:r>
              <a:rPr sz="1600" b="1" i="0" dirty="0">
                <a:solidFill>
                  <a:srgbClr val="00D4FF"/>
                </a:solidFill>
                <a:latin typeface="Segoe UI Semibold"/>
              </a:rPr>
              <a:t>Action 2 — View Next Bill and Mark as Paid</a:t>
            </a:r>
          </a:p>
        </p:txBody>
      </p:sp>
      <p:sp>
        <p:nvSpPr>
          <p:cNvPr id="9" name="TextBox 8"/>
          <p:cNvSpPr txBox="1"/>
          <p:nvPr/>
        </p:nvSpPr>
        <p:spPr>
          <a:xfrm>
            <a:off x="548640" y="2761488"/>
            <a:ext cx="11064240" cy="640080"/>
          </a:xfrm>
          <a:prstGeom prst="rect">
            <a:avLst/>
          </a:prstGeom>
          <a:noFill/>
        </p:spPr>
        <p:txBody>
          <a:bodyPr wrap="square">
            <a:spAutoFit/>
          </a:bodyPr>
          <a:lstStyle/>
          <a:p>
            <a:pPr algn="l"/>
            <a:r>
              <a:rPr sz="1500" b="0" i="0" dirty="0" err="1">
                <a:solidFill>
                  <a:srgbClr val="CCCCDD"/>
                </a:solidFill>
                <a:latin typeface="Segoe UI"/>
              </a:rPr>
              <a:t>hasPendingBills</a:t>
            </a:r>
            <a:r>
              <a:rPr sz="1500" b="0" i="0" dirty="0">
                <a:solidFill>
                  <a:srgbClr val="CCCCDD"/>
                </a:solidFill>
                <a:latin typeface="Segoe UI"/>
              </a:rPr>
              <a:t> checks </a:t>
            </a:r>
            <a:r>
              <a:rPr sz="1500" b="0" i="0" dirty="0" err="1">
                <a:solidFill>
                  <a:srgbClr val="CCCCDD"/>
                </a:solidFill>
                <a:latin typeface="Segoe UI"/>
              </a:rPr>
              <a:t>MinHeap</a:t>
            </a:r>
            <a:r>
              <a:rPr sz="1500" b="0" i="0" dirty="0">
                <a:solidFill>
                  <a:srgbClr val="CCCCDD"/>
                </a:solidFill>
                <a:latin typeface="Segoe UI"/>
              </a:rPr>
              <a:t>::</a:t>
            </a:r>
            <a:r>
              <a:rPr sz="1500" b="0" i="0" dirty="0" err="1">
                <a:solidFill>
                  <a:srgbClr val="CCCCDD"/>
                </a:solidFill>
                <a:latin typeface="Segoe UI"/>
              </a:rPr>
              <a:t>isEmpty</a:t>
            </a:r>
            <a:r>
              <a:rPr sz="1500" b="0" i="0" dirty="0">
                <a:solidFill>
                  <a:srgbClr val="CCCCDD"/>
                </a:solidFill>
                <a:latin typeface="Segoe UI"/>
              </a:rPr>
              <a:t>() before any access. </a:t>
            </a:r>
            <a:r>
              <a:rPr sz="1500" b="0" i="0" dirty="0" err="1">
                <a:solidFill>
                  <a:srgbClr val="CCCCDD"/>
                </a:solidFill>
                <a:latin typeface="Segoe UI"/>
              </a:rPr>
              <a:t>getNextBill</a:t>
            </a:r>
            <a:r>
              <a:rPr sz="1500" b="0" i="0" dirty="0">
                <a:solidFill>
                  <a:srgbClr val="CCCCDD"/>
                </a:solidFill>
                <a:latin typeface="Segoe UI"/>
              </a:rPr>
              <a:t> returns heap[0] — the root — in O(1). </a:t>
            </a:r>
            <a:r>
              <a:rPr sz="1500" b="0" i="0" dirty="0" err="1">
                <a:solidFill>
                  <a:srgbClr val="CCCCDD"/>
                </a:solidFill>
                <a:latin typeface="Segoe UI"/>
              </a:rPr>
              <a:t>markBillPaid</a:t>
            </a:r>
            <a:r>
              <a:rPr sz="1500" b="0" i="0" dirty="0">
                <a:solidFill>
                  <a:srgbClr val="CCCCDD"/>
                </a:solidFill>
                <a:latin typeface="Segoe UI"/>
              </a:rPr>
              <a:t> delegates to </a:t>
            </a:r>
            <a:r>
              <a:rPr sz="1500" b="0" i="0" dirty="0" err="1">
                <a:solidFill>
                  <a:srgbClr val="CCCCDD"/>
                </a:solidFill>
                <a:latin typeface="Segoe UI"/>
              </a:rPr>
              <a:t>markPaidByName</a:t>
            </a:r>
            <a:r>
              <a:rPr sz="1500" b="0" i="0" dirty="0">
                <a:solidFill>
                  <a:srgbClr val="CCCCDD"/>
                </a:solidFill>
                <a:latin typeface="Segoe UI"/>
              </a:rPr>
              <a:t>, which scans the heap array linearly, sets </a:t>
            </a:r>
            <a:r>
              <a:rPr sz="1500" b="0" i="0" dirty="0" err="1">
                <a:solidFill>
                  <a:srgbClr val="CCCCDD"/>
                </a:solidFill>
                <a:latin typeface="Segoe UI"/>
              </a:rPr>
              <a:t>isPaid</a:t>
            </a:r>
            <a:r>
              <a:rPr sz="1500" b="0" i="0" dirty="0">
                <a:solidFill>
                  <a:srgbClr val="CCCCDD"/>
                </a:solidFill>
                <a:latin typeface="Segoe UI"/>
              </a:rPr>
              <a:t> = true and </a:t>
            </a:r>
            <a:r>
              <a:rPr sz="1500" b="0" i="0" dirty="0" err="1">
                <a:solidFill>
                  <a:srgbClr val="CCCCDD"/>
                </a:solidFill>
                <a:latin typeface="Segoe UI"/>
              </a:rPr>
              <a:t>paidOn</a:t>
            </a:r>
            <a:r>
              <a:rPr sz="1500" b="0" i="0" dirty="0">
                <a:solidFill>
                  <a:srgbClr val="CCCCDD"/>
                </a:solidFill>
                <a:latin typeface="Segoe UI"/>
              </a:rPr>
              <a:t> = </a:t>
            </a:r>
            <a:r>
              <a:rPr sz="1500" b="0" i="0" dirty="0" err="1">
                <a:solidFill>
                  <a:srgbClr val="CCCCDD"/>
                </a:solidFill>
                <a:latin typeface="Segoe UI"/>
              </a:rPr>
              <a:t>paymentDate</a:t>
            </a:r>
            <a:r>
              <a:rPr sz="1500" b="0" i="0" dirty="0">
                <a:solidFill>
                  <a:srgbClr val="CCCCDD"/>
                </a:solidFill>
                <a:latin typeface="Segoe UI"/>
              </a:rPr>
              <a:t> in place. No re-</a:t>
            </a:r>
            <a:r>
              <a:rPr sz="1500" b="0" i="0" dirty="0" err="1">
                <a:solidFill>
                  <a:srgbClr val="CCCCDD"/>
                </a:solidFill>
                <a:latin typeface="Segoe UI"/>
              </a:rPr>
              <a:t>heapify</a:t>
            </a:r>
            <a:r>
              <a:rPr sz="1500" b="0" i="0" dirty="0">
                <a:solidFill>
                  <a:srgbClr val="CCCCDD"/>
                </a:solidFill>
                <a:latin typeface="Segoe UI"/>
              </a:rPr>
              <a:t> is needed because the due date does not change.</a:t>
            </a:r>
          </a:p>
        </p:txBody>
      </p:sp>
      <p:sp>
        <p:nvSpPr>
          <p:cNvPr id="10" name="TextBox 9"/>
          <p:cNvSpPr txBox="1"/>
          <p:nvPr/>
        </p:nvSpPr>
        <p:spPr>
          <a:xfrm>
            <a:off x="411480" y="3529584"/>
            <a:ext cx="11155680" cy="347472"/>
          </a:xfrm>
          <a:prstGeom prst="rect">
            <a:avLst/>
          </a:prstGeom>
          <a:noFill/>
        </p:spPr>
        <p:txBody>
          <a:bodyPr wrap="square">
            <a:spAutoFit/>
          </a:bodyPr>
          <a:lstStyle/>
          <a:p>
            <a:pPr algn="l"/>
            <a:r>
              <a:rPr sz="1600" b="1" i="0" dirty="0">
                <a:solidFill>
                  <a:srgbClr val="00D4FF"/>
                </a:solidFill>
                <a:latin typeface="Segoe UI Semibold"/>
              </a:rPr>
              <a:t>Action 3 — Query Spending History by Date Range</a:t>
            </a:r>
          </a:p>
        </p:txBody>
      </p:sp>
      <p:sp>
        <p:nvSpPr>
          <p:cNvPr id="11" name="TextBox 10"/>
          <p:cNvSpPr txBox="1"/>
          <p:nvPr/>
        </p:nvSpPr>
        <p:spPr>
          <a:xfrm>
            <a:off x="548640" y="3877056"/>
            <a:ext cx="11064240" cy="640080"/>
          </a:xfrm>
          <a:prstGeom prst="rect">
            <a:avLst/>
          </a:prstGeom>
          <a:noFill/>
        </p:spPr>
        <p:txBody>
          <a:bodyPr wrap="square">
            <a:spAutoFit/>
          </a:bodyPr>
          <a:lstStyle/>
          <a:p>
            <a:pPr algn="l"/>
            <a:r>
              <a:rPr sz="1500" b="0" i="0">
                <a:solidFill>
                  <a:srgbClr val="CCCCDD"/>
                </a:solidFill>
                <a:latin typeface="Segoe UI"/>
              </a:rPr>
              <a:t>rangeQuery calls rangeHelper recursively. If a node's date is before the start, only the right subtree is visited. If it is after the end, only the left subtree is visited. If it falls within the range, it is added to the result and both subtrees are explored. This achieves O(log n + k) where k is the number of results returned.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4864"/>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64592"/>
            <a:ext cx="11338560" cy="594360"/>
          </a:xfrm>
          <a:prstGeom prst="rect">
            <a:avLst/>
          </a:prstGeom>
          <a:noFill/>
        </p:spPr>
        <p:txBody>
          <a:bodyPr wrap="square">
            <a:spAutoFit/>
          </a:bodyPr>
          <a:lstStyle/>
          <a:p>
            <a:pPr algn="l"/>
            <a:r>
              <a:rPr sz="2800" b="1" i="0">
                <a:solidFill>
                  <a:srgbClr val="FFFFFF"/>
                </a:solidFill>
                <a:latin typeface="Segoe UI Semibold"/>
              </a:rPr>
              <a:t>Data Flow Diagrams</a:t>
            </a:r>
          </a:p>
        </p:txBody>
      </p:sp>
      <p:sp>
        <p:nvSpPr>
          <p:cNvPr id="4" name="TextBox 3"/>
          <p:cNvSpPr txBox="1"/>
          <p:nvPr/>
        </p:nvSpPr>
        <p:spPr>
          <a:xfrm>
            <a:off x="411480" y="777240"/>
            <a:ext cx="11338560" cy="320040"/>
          </a:xfrm>
          <a:prstGeom prst="rect">
            <a:avLst/>
          </a:prstGeom>
          <a:noFill/>
        </p:spPr>
        <p:txBody>
          <a:bodyPr wrap="square">
            <a:spAutoFit/>
          </a:bodyPr>
          <a:lstStyle/>
          <a:p>
            <a:pPr algn="l"/>
            <a:r>
              <a:rPr sz="1400" b="0" i="1">
                <a:solidFill>
                  <a:srgbClr val="00D4FF"/>
                </a:solidFill>
                <a:latin typeface="Segoe UI"/>
              </a:rPr>
              <a:t>These diagrams trace the path of data from user input to system output for each core action.</a:t>
            </a:r>
          </a:p>
        </p:txBody>
      </p:sp>
      <p:sp>
        <p:nvSpPr>
          <p:cNvPr id="5" name="Rectangle 4"/>
          <p:cNvSpPr/>
          <p:nvPr/>
        </p:nvSpPr>
        <p:spPr>
          <a:xfrm>
            <a:off x="411480" y="1170432"/>
            <a:ext cx="11338560" cy="27432"/>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298448"/>
            <a:ext cx="11155680" cy="347472"/>
          </a:xfrm>
          <a:prstGeom prst="rect">
            <a:avLst/>
          </a:prstGeom>
          <a:noFill/>
        </p:spPr>
        <p:txBody>
          <a:bodyPr wrap="square">
            <a:spAutoFit/>
          </a:bodyPr>
          <a:lstStyle/>
          <a:p>
            <a:pPr algn="l"/>
            <a:r>
              <a:rPr sz="1600" b="1" i="0" dirty="0">
                <a:solidFill>
                  <a:srgbClr val="00D4FF"/>
                </a:solidFill>
                <a:latin typeface="Segoe UI Semibold"/>
              </a:rPr>
              <a:t>Action 1</a:t>
            </a:r>
          </a:p>
        </p:txBody>
      </p:sp>
      <p:sp>
        <p:nvSpPr>
          <p:cNvPr id="7" name="TextBox 6"/>
          <p:cNvSpPr txBox="1"/>
          <p:nvPr/>
        </p:nvSpPr>
        <p:spPr>
          <a:xfrm>
            <a:off x="548640" y="1645919"/>
            <a:ext cx="11064240" cy="640080"/>
          </a:xfrm>
          <a:prstGeom prst="rect">
            <a:avLst/>
          </a:prstGeom>
          <a:noFill/>
        </p:spPr>
        <p:txBody>
          <a:bodyPr wrap="square">
            <a:spAutoFit/>
          </a:bodyPr>
          <a:lstStyle/>
          <a:p>
            <a:pPr algn="l"/>
            <a:r>
              <a:rPr sz="1500" b="0" i="0">
                <a:solidFill>
                  <a:srgbClr val="CCCCDD"/>
                </a:solidFill>
                <a:latin typeface="Segoe UI"/>
              </a:rPr>
              <a:t>User provides category, amount, date, and description  →  addExpense inserts into BST  →  HashMap retrieves or creates CategoryInfo  →  totalSpent is updated  →  checkBudget compares totals  →  if over budget, a warning with the excess amount is printed to the user.</a:t>
            </a:r>
          </a:p>
        </p:txBody>
      </p:sp>
      <p:sp>
        <p:nvSpPr>
          <p:cNvPr id="8" name="TextBox 7"/>
          <p:cNvSpPr txBox="1"/>
          <p:nvPr/>
        </p:nvSpPr>
        <p:spPr>
          <a:xfrm>
            <a:off x="457200" y="2441238"/>
            <a:ext cx="11155680" cy="347472"/>
          </a:xfrm>
          <a:prstGeom prst="rect">
            <a:avLst/>
          </a:prstGeom>
          <a:noFill/>
        </p:spPr>
        <p:txBody>
          <a:bodyPr wrap="square">
            <a:spAutoFit/>
          </a:bodyPr>
          <a:lstStyle/>
          <a:p>
            <a:pPr algn="l"/>
            <a:r>
              <a:rPr sz="1600" b="1" i="0" dirty="0">
                <a:solidFill>
                  <a:srgbClr val="00D4FF"/>
                </a:solidFill>
                <a:latin typeface="Segoe UI Semibold"/>
              </a:rPr>
              <a:t>Action 2</a:t>
            </a:r>
          </a:p>
        </p:txBody>
      </p:sp>
      <p:sp>
        <p:nvSpPr>
          <p:cNvPr id="9" name="TextBox 8"/>
          <p:cNvSpPr txBox="1"/>
          <p:nvPr/>
        </p:nvSpPr>
        <p:spPr>
          <a:xfrm>
            <a:off x="548640" y="2788710"/>
            <a:ext cx="11064240" cy="640080"/>
          </a:xfrm>
          <a:prstGeom prst="rect">
            <a:avLst/>
          </a:prstGeom>
          <a:noFill/>
        </p:spPr>
        <p:txBody>
          <a:bodyPr wrap="square">
            <a:spAutoFit/>
          </a:bodyPr>
          <a:lstStyle/>
          <a:p>
            <a:pPr algn="l"/>
            <a:r>
              <a:rPr sz="1500" b="0" i="0" dirty="0">
                <a:solidFill>
                  <a:srgbClr val="CCCCDD"/>
                </a:solidFill>
                <a:latin typeface="Segoe UI"/>
              </a:rPr>
              <a:t>User requests next bill  →  </a:t>
            </a:r>
            <a:r>
              <a:rPr sz="1500" b="0" i="0" dirty="0" err="1">
                <a:solidFill>
                  <a:srgbClr val="CCCCDD"/>
                </a:solidFill>
                <a:latin typeface="Segoe UI"/>
              </a:rPr>
              <a:t>hasPendingBills</a:t>
            </a:r>
            <a:r>
              <a:rPr sz="1500" b="0" i="0" dirty="0">
                <a:solidFill>
                  <a:srgbClr val="CCCCDD"/>
                </a:solidFill>
                <a:latin typeface="Segoe UI"/>
              </a:rPr>
              <a:t> checks </a:t>
            </a:r>
            <a:r>
              <a:rPr sz="1500" b="0" i="0" dirty="0" err="1">
                <a:solidFill>
                  <a:srgbClr val="CCCCDD"/>
                </a:solidFill>
                <a:latin typeface="Segoe UI"/>
              </a:rPr>
              <a:t>isEmpty</a:t>
            </a:r>
            <a:r>
              <a:rPr sz="1500" b="0" i="0" dirty="0">
                <a:solidFill>
                  <a:srgbClr val="CCCCDD"/>
                </a:solidFill>
                <a:latin typeface="Segoe UI"/>
              </a:rPr>
              <a:t>  →  if bills exist, </a:t>
            </a:r>
            <a:r>
              <a:rPr sz="1500" b="0" i="0" dirty="0" err="1">
                <a:solidFill>
                  <a:srgbClr val="CCCCDD"/>
                </a:solidFill>
                <a:latin typeface="Segoe UI"/>
              </a:rPr>
              <a:t>getNextBill</a:t>
            </a:r>
            <a:r>
              <a:rPr sz="1500" b="0" i="0" dirty="0">
                <a:solidFill>
                  <a:srgbClr val="CCCCDD"/>
                </a:solidFill>
                <a:latin typeface="Segoe UI"/>
              </a:rPr>
              <a:t> calls peek and returns heap[0]  →  bill details are displayed  →  user confirms payment  →  </a:t>
            </a:r>
            <a:r>
              <a:rPr sz="1500" b="0" i="0" dirty="0" err="1">
                <a:solidFill>
                  <a:srgbClr val="CCCCDD"/>
                </a:solidFill>
                <a:latin typeface="Segoe UI"/>
              </a:rPr>
              <a:t>markBillPaid</a:t>
            </a:r>
            <a:r>
              <a:rPr sz="1500" b="0" i="0" dirty="0">
                <a:solidFill>
                  <a:srgbClr val="CCCCDD"/>
                </a:solidFill>
                <a:latin typeface="Segoe UI"/>
              </a:rPr>
              <a:t> calls </a:t>
            </a:r>
            <a:r>
              <a:rPr sz="1500" b="0" i="0" dirty="0" err="1">
                <a:solidFill>
                  <a:srgbClr val="CCCCDD"/>
                </a:solidFill>
                <a:latin typeface="Segoe UI"/>
              </a:rPr>
              <a:t>markPaidByName</a:t>
            </a:r>
            <a:r>
              <a:rPr sz="1500" b="0" i="0" dirty="0">
                <a:solidFill>
                  <a:srgbClr val="CCCCDD"/>
                </a:solidFill>
                <a:latin typeface="Segoe UI"/>
              </a:rPr>
              <a:t>  →  bill is updated in place.</a:t>
            </a:r>
          </a:p>
        </p:txBody>
      </p:sp>
      <p:sp>
        <p:nvSpPr>
          <p:cNvPr id="10" name="TextBox 9"/>
          <p:cNvSpPr txBox="1"/>
          <p:nvPr/>
        </p:nvSpPr>
        <p:spPr>
          <a:xfrm>
            <a:off x="457200" y="3373611"/>
            <a:ext cx="11155680" cy="347472"/>
          </a:xfrm>
          <a:prstGeom prst="rect">
            <a:avLst/>
          </a:prstGeom>
          <a:noFill/>
        </p:spPr>
        <p:txBody>
          <a:bodyPr wrap="square">
            <a:spAutoFit/>
          </a:bodyPr>
          <a:lstStyle/>
          <a:p>
            <a:pPr algn="l"/>
            <a:r>
              <a:rPr sz="1600" b="1" i="0">
                <a:solidFill>
                  <a:srgbClr val="00D4FF"/>
                </a:solidFill>
                <a:latin typeface="Segoe UI Semibold"/>
              </a:rPr>
              <a:t>Action 3</a:t>
            </a:r>
          </a:p>
        </p:txBody>
      </p:sp>
      <p:sp>
        <p:nvSpPr>
          <p:cNvPr id="11" name="TextBox 10"/>
          <p:cNvSpPr txBox="1"/>
          <p:nvPr/>
        </p:nvSpPr>
        <p:spPr>
          <a:xfrm>
            <a:off x="548640" y="3721083"/>
            <a:ext cx="11064240" cy="640080"/>
          </a:xfrm>
          <a:prstGeom prst="rect">
            <a:avLst/>
          </a:prstGeom>
          <a:noFill/>
        </p:spPr>
        <p:txBody>
          <a:bodyPr wrap="square">
            <a:spAutoFit/>
          </a:bodyPr>
          <a:lstStyle/>
          <a:p>
            <a:pPr algn="l"/>
            <a:r>
              <a:rPr sz="1500" b="0" i="0" dirty="0">
                <a:solidFill>
                  <a:srgbClr val="CCCCDD"/>
                </a:solidFill>
                <a:latin typeface="Segoe UI"/>
              </a:rPr>
              <a:t>User provides start date and end date  →  </a:t>
            </a:r>
            <a:r>
              <a:rPr sz="1500" b="0" i="0" dirty="0" err="1">
                <a:solidFill>
                  <a:srgbClr val="CCCCDD"/>
                </a:solidFill>
                <a:latin typeface="Segoe UI"/>
              </a:rPr>
              <a:t>getExpensesByRange</a:t>
            </a:r>
            <a:r>
              <a:rPr sz="1500" b="0" i="0" dirty="0">
                <a:solidFill>
                  <a:srgbClr val="CCCCDD"/>
                </a:solidFill>
                <a:latin typeface="Segoe UI"/>
              </a:rPr>
              <a:t> calls </a:t>
            </a:r>
            <a:r>
              <a:rPr sz="1500" b="0" i="0" dirty="0" err="1">
                <a:solidFill>
                  <a:srgbClr val="CCCCDD"/>
                </a:solidFill>
                <a:latin typeface="Segoe UI"/>
              </a:rPr>
              <a:t>rangeQuery</a:t>
            </a:r>
            <a:r>
              <a:rPr sz="1500" b="0" i="0" dirty="0">
                <a:solidFill>
                  <a:srgbClr val="CCCCDD"/>
                </a:solidFill>
                <a:latin typeface="Segoe UI"/>
              </a:rPr>
              <a:t>  →  </a:t>
            </a:r>
            <a:r>
              <a:rPr sz="1500" b="0" i="0" dirty="0" err="1">
                <a:solidFill>
                  <a:srgbClr val="CCCCDD"/>
                </a:solidFill>
                <a:latin typeface="Segoe UI"/>
              </a:rPr>
              <a:t>rangeHelper</a:t>
            </a:r>
            <a:r>
              <a:rPr sz="1500" b="0" i="0" dirty="0">
                <a:solidFill>
                  <a:srgbClr val="CCCCDD"/>
                </a:solidFill>
                <a:latin typeface="Segoe UI"/>
              </a:rPr>
              <a:t> traverses the BST visiting only relevant nodes  →  matching expenses are collected into a vector  →  each expense's date, category, amount, and description are printed to the user.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4864"/>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64592"/>
            <a:ext cx="11338560" cy="594360"/>
          </a:xfrm>
          <a:prstGeom prst="rect">
            <a:avLst/>
          </a:prstGeom>
          <a:noFill/>
        </p:spPr>
        <p:txBody>
          <a:bodyPr wrap="square">
            <a:spAutoFit/>
          </a:bodyPr>
          <a:lstStyle/>
          <a:p>
            <a:pPr algn="l"/>
            <a:r>
              <a:rPr sz="2800" b="1" i="0">
                <a:solidFill>
                  <a:srgbClr val="FFFFFF"/>
                </a:solidFill>
                <a:latin typeface="Segoe UI Semibold"/>
              </a:rPr>
              <a:t>Unit Test Planning</a:t>
            </a:r>
          </a:p>
        </p:txBody>
      </p:sp>
      <p:sp>
        <p:nvSpPr>
          <p:cNvPr id="4" name="TextBox 3"/>
          <p:cNvSpPr txBox="1"/>
          <p:nvPr/>
        </p:nvSpPr>
        <p:spPr>
          <a:xfrm>
            <a:off x="411480" y="777240"/>
            <a:ext cx="11338560" cy="320040"/>
          </a:xfrm>
          <a:prstGeom prst="rect">
            <a:avLst/>
          </a:prstGeom>
          <a:noFill/>
        </p:spPr>
        <p:txBody>
          <a:bodyPr wrap="square">
            <a:spAutoFit/>
          </a:bodyPr>
          <a:lstStyle/>
          <a:p>
            <a:pPr algn="l"/>
            <a:r>
              <a:rPr sz="1400" b="0" i="1">
                <a:solidFill>
                  <a:srgbClr val="00D4FF"/>
                </a:solidFill>
                <a:latin typeface="Segoe UI"/>
              </a:rPr>
              <a:t>30 tests are planned across all 6 modules. Every test maps to a declared method in include/.</a:t>
            </a:r>
          </a:p>
        </p:txBody>
      </p:sp>
      <p:sp>
        <p:nvSpPr>
          <p:cNvPr id="5" name="Rectangle 4"/>
          <p:cNvSpPr/>
          <p:nvPr/>
        </p:nvSpPr>
        <p:spPr>
          <a:xfrm>
            <a:off x="411480" y="1170432"/>
            <a:ext cx="11338560" cy="27432"/>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298448"/>
            <a:ext cx="11155680" cy="347472"/>
          </a:xfrm>
          <a:prstGeom prst="rect">
            <a:avLst/>
          </a:prstGeom>
          <a:noFill/>
        </p:spPr>
        <p:txBody>
          <a:bodyPr wrap="square">
            <a:spAutoFit/>
          </a:bodyPr>
          <a:lstStyle/>
          <a:p>
            <a:pPr algn="l"/>
            <a:r>
              <a:rPr sz="1600" b="1" i="0">
                <a:solidFill>
                  <a:srgbClr val="00D4FF"/>
                </a:solidFill>
                <a:latin typeface="Segoe UI Semibold"/>
              </a:rPr>
              <a:t>Test Coverage by Module</a:t>
            </a:r>
          </a:p>
        </p:txBody>
      </p:sp>
      <p:sp>
        <p:nvSpPr>
          <p:cNvPr id="7" name="TextBox 6"/>
          <p:cNvSpPr txBox="1"/>
          <p:nvPr/>
        </p:nvSpPr>
        <p:spPr>
          <a:xfrm>
            <a:off x="548640" y="1645919"/>
            <a:ext cx="11064240" cy="640080"/>
          </a:xfrm>
          <a:prstGeom prst="rect">
            <a:avLst/>
          </a:prstGeom>
          <a:noFill/>
        </p:spPr>
        <p:txBody>
          <a:bodyPr wrap="square">
            <a:spAutoFit/>
          </a:bodyPr>
          <a:lstStyle/>
          <a:p>
            <a:pPr algn="l"/>
            <a:r>
              <a:rPr sz="1500" b="0" i="0">
                <a:solidFill>
                  <a:srgbClr val="CCCCDD"/>
                </a:solidFill>
                <a:latin typeface="Segoe UI"/>
              </a:rPr>
              <a:t>Date — 5 tests covering constructors, isBefore, operator==, and isBetween.  CategoryInfo — 5 tests covering initialization, addExpense accumulation, isOverBudget, and getRemainingBudget.  HashMap — 5 tests covering insert/get round-trip, contains, remove with tombstone, probe chain integrity, and resize.  MinHeap — 5 tests covering isEmpty, peek ordering, extractMin, markPaidByName, and unknown-name handling.  BST — 5 tests covering inOrder sorting, duplicate dates, search returning a vector, rangeQuery, and empty range.  BudgetManager — 5 integration tests covering all 3 actions end-to-end plus edge cases.</a:t>
            </a:r>
          </a:p>
        </p:txBody>
      </p:sp>
      <p:sp>
        <p:nvSpPr>
          <p:cNvPr id="8" name="TextBox 7"/>
          <p:cNvSpPr txBox="1"/>
          <p:nvPr/>
        </p:nvSpPr>
        <p:spPr>
          <a:xfrm>
            <a:off x="548640" y="3136393"/>
            <a:ext cx="11155680" cy="347472"/>
          </a:xfrm>
          <a:prstGeom prst="rect">
            <a:avLst/>
          </a:prstGeom>
          <a:noFill/>
        </p:spPr>
        <p:txBody>
          <a:bodyPr wrap="square">
            <a:spAutoFit/>
          </a:bodyPr>
          <a:lstStyle/>
          <a:p>
            <a:pPr algn="l"/>
            <a:r>
              <a:rPr sz="1600" b="1" i="0">
                <a:solidFill>
                  <a:srgbClr val="00D4FF"/>
                </a:solidFill>
                <a:latin typeface="Segoe UI Semibold"/>
              </a:rPr>
              <a:t>Notable Edge Case Tests</a:t>
            </a:r>
          </a:p>
        </p:txBody>
      </p:sp>
      <p:sp>
        <p:nvSpPr>
          <p:cNvPr id="9" name="TextBox 8"/>
          <p:cNvSpPr txBox="1"/>
          <p:nvPr/>
        </p:nvSpPr>
        <p:spPr>
          <a:xfrm>
            <a:off x="548640" y="3483865"/>
            <a:ext cx="11064240" cy="640080"/>
          </a:xfrm>
          <a:prstGeom prst="rect">
            <a:avLst/>
          </a:prstGeom>
          <a:noFill/>
        </p:spPr>
        <p:txBody>
          <a:bodyPr wrap="square">
            <a:spAutoFit/>
          </a:bodyPr>
          <a:lstStyle/>
          <a:p>
            <a:pPr algn="l"/>
            <a:r>
              <a:rPr sz="1500" b="0" i="0" dirty="0">
                <a:solidFill>
                  <a:srgbClr val="CCCCDD"/>
                </a:solidFill>
                <a:latin typeface="Segoe UI"/>
              </a:rPr>
              <a:t>Test 14 verifies that removing a HashMap entry does not break the probe chain for entries that were displaced past it during insertion. Test 22 verifies that two expenses on the same date are both preserved in the BST using the equal-dates-go-right strategy. Test 27 verifies that </a:t>
            </a:r>
            <a:r>
              <a:rPr sz="1500" b="0" i="0" dirty="0" err="1">
                <a:solidFill>
                  <a:srgbClr val="CCCCDD"/>
                </a:solidFill>
                <a:latin typeface="Segoe UI"/>
              </a:rPr>
              <a:t>addExpense</a:t>
            </a:r>
            <a:r>
              <a:rPr sz="1500" b="0" i="0" dirty="0">
                <a:solidFill>
                  <a:srgbClr val="CCCCDD"/>
                </a:solidFill>
                <a:latin typeface="Segoe UI"/>
              </a:rPr>
              <a:t> gracefully auto-creates a CategoryInfo entry when no budget limit has been set for that category yet.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4864"/>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64592"/>
            <a:ext cx="11338560" cy="594360"/>
          </a:xfrm>
          <a:prstGeom prst="rect">
            <a:avLst/>
          </a:prstGeom>
          <a:noFill/>
        </p:spPr>
        <p:txBody>
          <a:bodyPr wrap="square">
            <a:spAutoFit/>
          </a:bodyPr>
          <a:lstStyle/>
          <a:p>
            <a:pPr algn="l"/>
            <a:r>
              <a:rPr sz="2800" b="1" i="0">
                <a:solidFill>
                  <a:srgbClr val="FFFFFF"/>
                </a:solidFill>
                <a:latin typeface="Segoe UI Semibold"/>
              </a:rPr>
              <a:t>Traceability Matrix</a:t>
            </a:r>
          </a:p>
        </p:txBody>
      </p:sp>
      <p:sp>
        <p:nvSpPr>
          <p:cNvPr id="4" name="TextBox 3"/>
          <p:cNvSpPr txBox="1"/>
          <p:nvPr/>
        </p:nvSpPr>
        <p:spPr>
          <a:xfrm>
            <a:off x="411480" y="777240"/>
            <a:ext cx="11338560" cy="320040"/>
          </a:xfrm>
          <a:prstGeom prst="rect">
            <a:avLst/>
          </a:prstGeom>
          <a:noFill/>
        </p:spPr>
        <p:txBody>
          <a:bodyPr wrap="square">
            <a:spAutoFit/>
          </a:bodyPr>
          <a:lstStyle/>
          <a:p>
            <a:pPr algn="l"/>
            <a:r>
              <a:rPr sz="1400" b="0" i="1">
                <a:solidFill>
                  <a:srgbClr val="00D4FF"/>
                </a:solidFill>
                <a:latin typeface="Segoe UI"/>
              </a:rPr>
              <a:t>Every method in the system traces back to one of the three core user requirements.</a:t>
            </a:r>
          </a:p>
        </p:txBody>
      </p:sp>
      <p:sp>
        <p:nvSpPr>
          <p:cNvPr id="5" name="Rectangle 4"/>
          <p:cNvSpPr/>
          <p:nvPr/>
        </p:nvSpPr>
        <p:spPr>
          <a:xfrm>
            <a:off x="411480" y="1170432"/>
            <a:ext cx="11338560" cy="27432"/>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298448"/>
            <a:ext cx="11155680" cy="347472"/>
          </a:xfrm>
          <a:prstGeom prst="rect">
            <a:avLst/>
          </a:prstGeom>
          <a:noFill/>
        </p:spPr>
        <p:txBody>
          <a:bodyPr wrap="square">
            <a:spAutoFit/>
          </a:bodyPr>
          <a:lstStyle/>
          <a:p>
            <a:pPr algn="l"/>
            <a:r>
              <a:rPr sz="1600" b="1" i="0">
                <a:solidFill>
                  <a:srgbClr val="00D4FF"/>
                </a:solidFill>
                <a:latin typeface="Segoe UI Semibold"/>
              </a:rPr>
              <a:t>Action 1 — Log an Expense and Check Budget</a:t>
            </a:r>
          </a:p>
        </p:txBody>
      </p:sp>
      <p:sp>
        <p:nvSpPr>
          <p:cNvPr id="7" name="TextBox 6"/>
          <p:cNvSpPr txBox="1"/>
          <p:nvPr/>
        </p:nvSpPr>
        <p:spPr>
          <a:xfrm>
            <a:off x="548640" y="1645919"/>
            <a:ext cx="11064240" cy="640080"/>
          </a:xfrm>
          <a:prstGeom prst="rect">
            <a:avLst/>
          </a:prstGeom>
          <a:noFill/>
        </p:spPr>
        <p:txBody>
          <a:bodyPr wrap="square">
            <a:spAutoFit/>
          </a:bodyPr>
          <a:lstStyle/>
          <a:p>
            <a:pPr algn="l"/>
            <a:r>
              <a:rPr sz="1500" b="0" i="0">
                <a:solidFill>
                  <a:srgbClr val="CCCCDD"/>
                </a:solidFill>
                <a:latin typeface="Segoe UI"/>
              </a:rPr>
              <a:t>Fulfilled by: BudgetManager::addExpense, BudgetManager::checkBudget, BudgetManager::setBudgetLimit, BST::insert, HashMap::get, HashMap::insert, CategoryInfo::addExpense, CategoryInfo::isOverBudget, and CategoryInfo::getRemainingBudget.</a:t>
            </a:r>
          </a:p>
        </p:txBody>
      </p:sp>
      <p:sp>
        <p:nvSpPr>
          <p:cNvPr id="8" name="TextBox 7"/>
          <p:cNvSpPr txBox="1"/>
          <p:nvPr/>
        </p:nvSpPr>
        <p:spPr>
          <a:xfrm>
            <a:off x="457200" y="2267712"/>
            <a:ext cx="11155680" cy="347472"/>
          </a:xfrm>
          <a:prstGeom prst="rect">
            <a:avLst/>
          </a:prstGeom>
          <a:noFill/>
        </p:spPr>
        <p:txBody>
          <a:bodyPr wrap="square">
            <a:spAutoFit/>
          </a:bodyPr>
          <a:lstStyle/>
          <a:p>
            <a:pPr algn="l"/>
            <a:r>
              <a:rPr sz="1600" b="1" i="0">
                <a:solidFill>
                  <a:srgbClr val="00D4FF"/>
                </a:solidFill>
                <a:latin typeface="Segoe UI Semibold"/>
              </a:rPr>
              <a:t>Action 2 — View Next Bill and Mark as Paid</a:t>
            </a:r>
          </a:p>
        </p:txBody>
      </p:sp>
      <p:sp>
        <p:nvSpPr>
          <p:cNvPr id="9" name="TextBox 8"/>
          <p:cNvSpPr txBox="1"/>
          <p:nvPr/>
        </p:nvSpPr>
        <p:spPr>
          <a:xfrm>
            <a:off x="548640" y="2615184"/>
            <a:ext cx="11064240" cy="640080"/>
          </a:xfrm>
          <a:prstGeom prst="rect">
            <a:avLst/>
          </a:prstGeom>
          <a:noFill/>
        </p:spPr>
        <p:txBody>
          <a:bodyPr wrap="square">
            <a:spAutoFit/>
          </a:bodyPr>
          <a:lstStyle/>
          <a:p>
            <a:pPr algn="l"/>
            <a:r>
              <a:rPr sz="1500" b="0" i="0">
                <a:solidFill>
                  <a:srgbClr val="CCCCDD"/>
                </a:solidFill>
                <a:latin typeface="Segoe UI"/>
              </a:rPr>
              <a:t>Fulfilled by: BudgetManager::hasPendingBills, BudgetManager::getNextBill, BudgetManager::markBillPaid, MinHeap::isEmpty, MinHeap::peek, MinHeap::markPaidByName, Bill::markAsPaid, and Bill::display.</a:t>
            </a:r>
          </a:p>
        </p:txBody>
      </p:sp>
      <p:sp>
        <p:nvSpPr>
          <p:cNvPr id="10" name="TextBox 9"/>
          <p:cNvSpPr txBox="1"/>
          <p:nvPr/>
        </p:nvSpPr>
        <p:spPr>
          <a:xfrm>
            <a:off x="457200" y="3236976"/>
            <a:ext cx="11155680" cy="347472"/>
          </a:xfrm>
          <a:prstGeom prst="rect">
            <a:avLst/>
          </a:prstGeom>
          <a:noFill/>
        </p:spPr>
        <p:txBody>
          <a:bodyPr wrap="square">
            <a:spAutoFit/>
          </a:bodyPr>
          <a:lstStyle/>
          <a:p>
            <a:pPr algn="l"/>
            <a:r>
              <a:rPr sz="1600" b="1" i="0">
                <a:solidFill>
                  <a:srgbClr val="00D4FF"/>
                </a:solidFill>
                <a:latin typeface="Segoe UI Semibold"/>
              </a:rPr>
              <a:t>Action 3 — Query Spending History by Date Range</a:t>
            </a:r>
          </a:p>
        </p:txBody>
      </p:sp>
      <p:sp>
        <p:nvSpPr>
          <p:cNvPr id="11" name="TextBox 10"/>
          <p:cNvSpPr txBox="1"/>
          <p:nvPr/>
        </p:nvSpPr>
        <p:spPr>
          <a:xfrm>
            <a:off x="548640" y="3584448"/>
            <a:ext cx="11064240" cy="640080"/>
          </a:xfrm>
          <a:prstGeom prst="rect">
            <a:avLst/>
          </a:prstGeom>
          <a:noFill/>
        </p:spPr>
        <p:txBody>
          <a:bodyPr wrap="square">
            <a:spAutoFit/>
          </a:bodyPr>
          <a:lstStyle/>
          <a:p>
            <a:pPr algn="l"/>
            <a:r>
              <a:rPr sz="1500" b="0" i="0">
                <a:solidFill>
                  <a:srgbClr val="CCCCDD"/>
                </a:solidFill>
                <a:latin typeface="Segoe UI"/>
              </a:rPr>
              <a:t>Fulfilled by: BudgetManager::getExpensesByRange, BST::rangeQuery, BST::rangeHelper, Date::isBefore, Date::isAfter, Date::isBetween, and Expense::display.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4864"/>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64592"/>
            <a:ext cx="11338560" cy="594360"/>
          </a:xfrm>
          <a:prstGeom prst="rect">
            <a:avLst/>
          </a:prstGeom>
          <a:noFill/>
        </p:spPr>
        <p:txBody>
          <a:bodyPr wrap="square">
            <a:spAutoFit/>
          </a:bodyPr>
          <a:lstStyle/>
          <a:p>
            <a:pPr algn="l"/>
            <a:r>
              <a:rPr sz="2800" b="1" i="0">
                <a:solidFill>
                  <a:srgbClr val="FFFFFF"/>
                </a:solidFill>
                <a:latin typeface="Segoe UI Semibold"/>
              </a:rPr>
              <a:t>Summary</a:t>
            </a:r>
          </a:p>
        </p:txBody>
      </p:sp>
      <p:sp>
        <p:nvSpPr>
          <p:cNvPr id="4" name="TextBox 3"/>
          <p:cNvSpPr txBox="1"/>
          <p:nvPr/>
        </p:nvSpPr>
        <p:spPr>
          <a:xfrm>
            <a:off x="411480" y="777240"/>
            <a:ext cx="11338560" cy="320040"/>
          </a:xfrm>
          <a:prstGeom prst="rect">
            <a:avLst/>
          </a:prstGeom>
          <a:noFill/>
        </p:spPr>
        <p:txBody>
          <a:bodyPr wrap="square">
            <a:spAutoFit/>
          </a:bodyPr>
          <a:lstStyle/>
          <a:p>
            <a:pPr algn="l"/>
            <a:r>
              <a:rPr sz="1400" b="0" i="1">
                <a:solidFill>
                  <a:srgbClr val="00D4FF"/>
                </a:solidFill>
                <a:latin typeface="Segoe UI"/>
              </a:rPr>
              <a:t>The design phase is complete. All deliverables are documented and the system is ready for implementation.</a:t>
            </a:r>
          </a:p>
        </p:txBody>
      </p:sp>
      <p:sp>
        <p:nvSpPr>
          <p:cNvPr id="5" name="Rectangle 4"/>
          <p:cNvSpPr/>
          <p:nvPr/>
        </p:nvSpPr>
        <p:spPr>
          <a:xfrm>
            <a:off x="411480" y="1170432"/>
            <a:ext cx="11338560" cy="27432"/>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298448"/>
            <a:ext cx="11155680" cy="347472"/>
          </a:xfrm>
          <a:prstGeom prst="rect">
            <a:avLst/>
          </a:prstGeom>
          <a:noFill/>
        </p:spPr>
        <p:txBody>
          <a:bodyPr wrap="square">
            <a:spAutoFit/>
          </a:bodyPr>
          <a:lstStyle/>
          <a:p>
            <a:pPr algn="l"/>
            <a:r>
              <a:rPr sz="1600" b="1" i="0">
                <a:solidFill>
                  <a:srgbClr val="00D4FF"/>
                </a:solidFill>
                <a:latin typeface="Segoe UI Semibold"/>
              </a:rPr>
              <a:t>What Was Accomplished</a:t>
            </a:r>
          </a:p>
        </p:txBody>
      </p:sp>
      <p:sp>
        <p:nvSpPr>
          <p:cNvPr id="7" name="TextBox 6"/>
          <p:cNvSpPr txBox="1"/>
          <p:nvPr/>
        </p:nvSpPr>
        <p:spPr>
          <a:xfrm>
            <a:off x="548640" y="1645919"/>
            <a:ext cx="11064240" cy="640080"/>
          </a:xfrm>
          <a:prstGeom prst="rect">
            <a:avLst/>
          </a:prstGeom>
          <a:noFill/>
        </p:spPr>
        <p:txBody>
          <a:bodyPr wrap="square">
            <a:spAutoFit/>
          </a:bodyPr>
          <a:lstStyle/>
          <a:p>
            <a:pPr algn="l"/>
            <a:r>
              <a:rPr sz="1500" b="0" i="0">
                <a:solidFill>
                  <a:srgbClr val="CCCCDD"/>
                </a:solidFill>
                <a:latin typeface="Segoe UI"/>
              </a:rPr>
              <a:t>A UML class diagram was produced with 7 components and 9 relationships. Eight header files were written, reviewed across multiple passes, and corrected for uninitialized fields, missing constructors, pointer safety, and interface gaps. Algorithms were defined in pseudocode for all three core actions and all key data structure operations.</a:t>
            </a:r>
          </a:p>
        </p:txBody>
      </p:sp>
      <p:sp>
        <p:nvSpPr>
          <p:cNvPr id="8" name="TextBox 7"/>
          <p:cNvSpPr txBox="1"/>
          <p:nvPr/>
        </p:nvSpPr>
        <p:spPr>
          <a:xfrm>
            <a:off x="457200" y="2371449"/>
            <a:ext cx="11155680" cy="347472"/>
          </a:xfrm>
          <a:prstGeom prst="rect">
            <a:avLst/>
          </a:prstGeom>
          <a:noFill/>
        </p:spPr>
        <p:txBody>
          <a:bodyPr wrap="square">
            <a:spAutoFit/>
          </a:bodyPr>
          <a:lstStyle/>
          <a:p>
            <a:pPr algn="l"/>
            <a:r>
              <a:rPr sz="1600" b="1" i="0" dirty="0">
                <a:solidFill>
                  <a:srgbClr val="00D4FF"/>
                </a:solidFill>
                <a:latin typeface="Segoe UI Semibold"/>
              </a:rPr>
              <a:t>Documentation Produced</a:t>
            </a:r>
          </a:p>
        </p:txBody>
      </p:sp>
      <p:sp>
        <p:nvSpPr>
          <p:cNvPr id="9" name="TextBox 8"/>
          <p:cNvSpPr txBox="1"/>
          <p:nvPr/>
        </p:nvSpPr>
        <p:spPr>
          <a:xfrm>
            <a:off x="548640" y="2691488"/>
            <a:ext cx="11064240" cy="640080"/>
          </a:xfrm>
          <a:prstGeom prst="rect">
            <a:avLst/>
          </a:prstGeom>
          <a:noFill/>
        </p:spPr>
        <p:txBody>
          <a:bodyPr wrap="square">
            <a:spAutoFit/>
          </a:bodyPr>
          <a:lstStyle/>
          <a:p>
            <a:pPr algn="l"/>
            <a:r>
              <a:rPr sz="1500" b="0" i="0" dirty="0">
                <a:solidFill>
                  <a:srgbClr val="CCCCDD"/>
                </a:solidFill>
                <a:latin typeface="Segoe UI"/>
              </a:rPr>
              <a:t>The </a:t>
            </a:r>
            <a:r>
              <a:rPr sz="1500" b="0" i="0" dirty="0" err="1">
                <a:solidFill>
                  <a:srgbClr val="CCCCDD"/>
                </a:solidFill>
                <a:latin typeface="Segoe UI"/>
              </a:rPr>
              <a:t>reflection.md</a:t>
            </a:r>
            <a:r>
              <a:rPr sz="1500" b="0" i="0" dirty="0">
                <a:solidFill>
                  <a:srgbClr val="CCCCDD"/>
                </a:solidFill>
                <a:latin typeface="Segoe UI"/>
              </a:rPr>
              <a:t> file contains the complete Detailed Design Document, including the component brainstorm, data structure justification, design changes, traceability matrix, algorithm definition, interface design, data flow diagrams, and unit test plan with 30 tests mapped to declared method signatures.</a:t>
            </a:r>
          </a:p>
        </p:txBody>
      </p:sp>
      <p:sp>
        <p:nvSpPr>
          <p:cNvPr id="10" name="TextBox 9"/>
          <p:cNvSpPr txBox="1"/>
          <p:nvPr/>
        </p:nvSpPr>
        <p:spPr>
          <a:xfrm>
            <a:off x="457200" y="3429001"/>
            <a:ext cx="11155680" cy="347472"/>
          </a:xfrm>
          <a:prstGeom prst="rect">
            <a:avLst/>
          </a:prstGeom>
          <a:noFill/>
        </p:spPr>
        <p:txBody>
          <a:bodyPr wrap="square">
            <a:spAutoFit/>
          </a:bodyPr>
          <a:lstStyle/>
          <a:p>
            <a:pPr algn="l"/>
            <a:r>
              <a:rPr sz="1600" b="1" i="0" dirty="0">
                <a:solidFill>
                  <a:srgbClr val="00D4FF"/>
                </a:solidFill>
                <a:latin typeface="Segoe UI Semibold"/>
              </a:rPr>
              <a:t>Next Step — Phase 2: Implementation</a:t>
            </a:r>
          </a:p>
        </p:txBody>
      </p:sp>
      <p:sp>
        <p:nvSpPr>
          <p:cNvPr id="11" name="TextBox 10"/>
          <p:cNvSpPr txBox="1"/>
          <p:nvPr/>
        </p:nvSpPr>
        <p:spPr>
          <a:xfrm>
            <a:off x="548640" y="3773319"/>
            <a:ext cx="11064240" cy="640080"/>
          </a:xfrm>
          <a:prstGeom prst="rect">
            <a:avLst/>
          </a:prstGeom>
          <a:noFill/>
        </p:spPr>
        <p:txBody>
          <a:bodyPr wrap="square">
            <a:spAutoFit/>
          </a:bodyPr>
          <a:lstStyle/>
          <a:p>
            <a:pPr algn="l"/>
            <a:r>
              <a:rPr sz="1500" b="0" i="0" dirty="0">
                <a:solidFill>
                  <a:srgbClr val="CCCCDD"/>
                </a:solidFill>
                <a:latin typeface="Segoe UI"/>
              </a:rPr>
              <a:t>All .</a:t>
            </a:r>
            <a:r>
              <a:rPr sz="1500" b="0" i="0" dirty="0" err="1">
                <a:solidFill>
                  <a:srgbClr val="CCCCDD"/>
                </a:solidFill>
                <a:latin typeface="Segoe UI"/>
              </a:rPr>
              <a:t>cpp</a:t>
            </a:r>
            <a:r>
              <a:rPr sz="1500" b="0" i="0" dirty="0">
                <a:solidFill>
                  <a:srgbClr val="CCCCDD"/>
                </a:solidFill>
                <a:latin typeface="Segoe UI"/>
              </a:rPr>
              <a:t> stub files are in place in </a:t>
            </a:r>
            <a:r>
              <a:rPr sz="1500" b="0" i="0" dirty="0" err="1">
                <a:solidFill>
                  <a:srgbClr val="CCCCDD"/>
                </a:solidFill>
                <a:latin typeface="Segoe UI"/>
              </a:rPr>
              <a:t>src</a:t>
            </a:r>
            <a:r>
              <a:rPr sz="1500" b="0" i="0" dirty="0">
                <a:solidFill>
                  <a:srgbClr val="CCCCDD"/>
                </a:solidFill>
                <a:latin typeface="Segoe UI"/>
              </a:rPr>
              <a:t>/. The </a:t>
            </a:r>
            <a:r>
              <a:rPr sz="1500" b="0" i="0" dirty="0" err="1">
                <a:solidFill>
                  <a:srgbClr val="CCCCDD"/>
                </a:solidFill>
                <a:latin typeface="Segoe UI"/>
              </a:rPr>
              <a:t>Makefile</a:t>
            </a:r>
            <a:r>
              <a:rPr sz="1500" b="0" i="0" dirty="0">
                <a:solidFill>
                  <a:srgbClr val="CCCCDD"/>
                </a:solidFill>
                <a:latin typeface="Segoe UI"/>
              </a:rPr>
              <a:t> is configured and ready. Implementation begins with the foundational components — Date, Expense, Bill, and CategoryInfo — before moving on to the data structures and </a:t>
            </a:r>
            <a:r>
              <a:rPr sz="1500" b="0" i="0" dirty="0" err="1">
                <a:solidFill>
                  <a:srgbClr val="CCCCDD"/>
                </a:solidFill>
                <a:latin typeface="Segoe UI"/>
              </a:rPr>
              <a:t>BudgetManager</a:t>
            </a:r>
            <a:r>
              <a:rPr sz="1500" b="0" i="0" dirty="0">
                <a:solidFill>
                  <a:srgbClr val="CCCCDD"/>
                </a:solidFill>
                <a:latin typeface="Segoe UI"/>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TotalTime>
  <Words>1574</Words>
  <Application>Microsoft Macintosh PowerPoint</Application>
  <PresentationFormat>Custom</PresentationFormat>
  <Paragraphs>68</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SITHU SOE</cp:lastModifiedBy>
  <cp:revision>5</cp:revision>
  <dcterms:created xsi:type="dcterms:W3CDTF">2013-01-27T09:14:16Z</dcterms:created>
  <dcterms:modified xsi:type="dcterms:W3CDTF">2026-03-30T07:50:29Z</dcterms:modified>
  <cp:category/>
</cp:coreProperties>
</file>